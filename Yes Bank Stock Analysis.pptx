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2131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" y="-298315"/>
            <a:ext cx="9144000" cy="5479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3804" y="918964"/>
            <a:ext cx="7536293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BANK STOCK PRICES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1774544" y="1725414"/>
            <a:ext cx="5594813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1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 &amp; Machine Learning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3178738" y="2456855"/>
            <a:ext cx="278642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Analysis Project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905287" y="3371255"/>
            <a:ext cx="3378781" cy="127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Date: February , 2026</a:t>
            </a:r>
          </a:p>
          <a:p>
            <a:pPr marL="0" indent="0" algn="ctr">
              <a:lnSpc>
                <a:spcPts val="2160"/>
              </a:lnSpc>
              <a:buNone/>
            </a:pPr>
            <a:endParaRPr lang="en-US" sz="1350" dirty="0">
              <a:solidFill>
                <a:srgbClr val="CBD5E1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ctr">
              <a:lnSpc>
                <a:spcPts val="216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Name : Suda Dhanunjay</a:t>
            </a:r>
          </a:p>
        </p:txBody>
      </p:sp>
      <p:sp>
        <p:nvSpPr>
          <p:cNvPr id="7" name="Text 4"/>
          <p:cNvSpPr/>
          <p:nvPr/>
        </p:nvSpPr>
        <p:spPr>
          <a:xfrm>
            <a:off x="2905287" y="3797896"/>
            <a:ext cx="333332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endParaRPr lang="en-US" sz="13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B17546-C34C-D087-CFE5-D63A3FBB0B8C}"/>
              </a:ext>
            </a:extLst>
          </p:cNvPr>
          <p:cNvSpPr txBox="1"/>
          <p:nvPr/>
        </p:nvSpPr>
        <p:spPr>
          <a:xfrm>
            <a:off x="4114800" y="1926076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9CB5A9-44B4-8CDD-FF66-8750E3F2A300}"/>
              </a:ext>
            </a:extLst>
          </p:cNvPr>
          <p:cNvSpPr txBox="1"/>
          <p:nvPr/>
        </p:nvSpPr>
        <p:spPr>
          <a:xfrm>
            <a:off x="3839183" y="2263302"/>
            <a:ext cx="732767" cy="901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914400" y="1231900"/>
            <a:ext cx="7620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&amp; Objectives</a:t>
            </a:r>
            <a:endParaRPr lang="en-US" sz="15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Business Context</a:t>
            </a:r>
            <a:endParaRPr lang="en-US" sz="15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 Insights</a:t>
            </a:r>
            <a:endParaRPr lang="en-US" sz="15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Models &amp; Performance</a:t>
            </a:r>
            <a:endParaRPr lang="en-US" sz="15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 &amp; Use Cases</a:t>
            </a:r>
            <a:endParaRPr lang="en-US" sz="15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Recommendations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2182019"/>
            <a:ext cx="7924800" cy="100568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3375820"/>
            <a:ext cx="7924800" cy="100568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609600"/>
            <a:ext cx="8083296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09600" y="1231900"/>
            <a:ext cx="792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</a:t>
            </a: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Predict Yes Bank stock closing prices using historical market data to enable data-driven investment decisions and trading strategies.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76300" y="2410619"/>
            <a:ext cx="7429500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Relevance: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Accurate stock price forecasting is critical for portfolio optimization, risk management, and strategic trading decisions in a volatile financial market.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76300" y="3604420"/>
            <a:ext cx="7429500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Challenge: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Build a regression model that captures complex market dynamics and price relationships with high accuracy and generalization capability.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384300"/>
            <a:ext cx="3848100" cy="127089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86300" y="1384300"/>
            <a:ext cx="3848100" cy="127089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2883794"/>
            <a:ext cx="3848100" cy="127089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686300" y="2883794"/>
            <a:ext cx="3848100" cy="127089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09600" y="609600"/>
            <a:ext cx="8083296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Overview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876300" y="1612900"/>
            <a:ext cx="3419856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876300" y="1908473"/>
            <a:ext cx="3419856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 months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953000" y="1612900"/>
            <a:ext cx="3419856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Period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4953000" y="1908473"/>
            <a:ext cx="3419856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2005 - Nov 2020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76300" y="3112394"/>
            <a:ext cx="3419856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Range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876300" y="3407966"/>
            <a:ext cx="3419856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₹9.98 - ₹404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953000" y="3112394"/>
            <a:ext cx="3419856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4953000" y="3407966"/>
            <a:ext cx="3419856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09600" y="4459486"/>
            <a:ext cx="8083296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Zero missing values | ✓ No duplicates | ✓ All records valid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 Findings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914400" y="1231902"/>
            <a:ext cx="7620000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188"/>
              </a:lnSpc>
              <a:buSzPct val="100000"/>
              <a:buChar char="•"/>
            </a:pPr>
            <a:r>
              <a:rPr lang="en-US" sz="13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 Financial Crisis:</a:t>
            </a:r>
            <a:r>
              <a:rPr lang="en-US" sz="132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Stock crashed 90% (₹105 → ₹10)</a:t>
            </a:r>
            <a:endParaRPr lang="en-US" sz="1320" dirty="0"/>
          </a:p>
          <a:p>
            <a:pPr marL="342900" indent="-342900">
              <a:lnSpc>
                <a:spcPts val="1188"/>
              </a:lnSpc>
              <a:buSzPct val="100000"/>
              <a:buChar char="•"/>
            </a:pPr>
            <a:r>
              <a:rPr lang="en-US" sz="13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2013 Regulatory Shock:</a:t>
            </a:r>
            <a:r>
              <a:rPr lang="en-US" sz="132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55% decline following banking regulations</a:t>
            </a:r>
            <a:endParaRPr lang="en-US" sz="1320" dirty="0"/>
          </a:p>
          <a:p>
            <a:pPr marL="342900" indent="-342900">
              <a:lnSpc>
                <a:spcPts val="1188"/>
              </a:lnSpc>
              <a:buSzPct val="100000"/>
              <a:buChar char="•"/>
            </a:pPr>
            <a:r>
              <a:rPr lang="en-US" sz="13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Phase:</a:t>
            </a:r>
            <a:r>
              <a:rPr lang="en-US" sz="132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Strong rally 2009-2017 (₹10 → ₹380)</a:t>
            </a:r>
            <a:endParaRPr lang="en-US" sz="1320" dirty="0"/>
          </a:p>
          <a:p>
            <a:pPr marL="342900" indent="-342900">
              <a:lnSpc>
                <a:spcPts val="1188"/>
              </a:lnSpc>
              <a:buSzPct val="100000"/>
              <a:buChar char="•"/>
            </a:pPr>
            <a:r>
              <a:rPr lang="en-US" sz="13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Decline:</a:t>
            </a:r>
            <a:r>
              <a:rPr lang="en-US" sz="132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Downtrend 2018-2020 (₹380 → ₹47)</a:t>
            </a:r>
            <a:endParaRPr lang="en-US" sz="1320" dirty="0"/>
          </a:p>
          <a:p>
            <a:pPr marL="342900" indent="-342900">
              <a:lnSpc>
                <a:spcPts val="1188"/>
              </a:lnSpc>
              <a:buSzPct val="100000"/>
              <a:buChar char="•"/>
            </a:pPr>
            <a:r>
              <a:rPr lang="en-US" sz="13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Volatility Pattern:</a:t>
            </a:r>
            <a:r>
              <a:rPr lang="en-US" sz="132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3x increase during crisis periods</a:t>
            </a:r>
            <a:endParaRPr lang="en-US" sz="1320" dirty="0"/>
          </a:p>
          <a:p>
            <a:pPr marL="342900" indent="-342900">
              <a:lnSpc>
                <a:spcPts val="1188"/>
              </a:lnSpc>
              <a:buSzPct val="100000"/>
              <a:buChar char="•"/>
            </a:pPr>
            <a:r>
              <a:rPr lang="en-US" sz="13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Win Rate:</a:t>
            </a:r>
            <a:r>
              <a:rPr lang="en-US" sz="132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53% of months positive returns</a:t>
            </a:r>
            <a:endParaRPr lang="en-US" sz="13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231902"/>
            <a:ext cx="7924800" cy="130125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2990355"/>
            <a:ext cx="3810000" cy="184785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724400" y="2990355"/>
            <a:ext cx="3810000" cy="184785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9600" y="609600"/>
            <a:ext cx="8083296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Correlations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876300" y="1460502"/>
            <a:ext cx="7578090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Variable Relationships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76300" y="1725513"/>
            <a:ext cx="7578090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&gt; 0.99 Correlation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76300" y="3218955"/>
            <a:ext cx="33809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Correlations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81100" y="3638055"/>
            <a:ext cx="30099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↔ Close: 0.9943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↔ Low: 0.9981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↔ High: 0.9949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991100" y="3218955"/>
            <a:ext cx="33809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991100" y="3638055"/>
            <a:ext cx="33147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variables are highly interdependent, indicating market consistency and predictability.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384302"/>
            <a:ext cx="3810000" cy="169743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724400" y="1384302"/>
            <a:ext cx="3810000" cy="169743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3538935"/>
            <a:ext cx="3810000" cy="169743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724400" y="3538935"/>
            <a:ext cx="3810000" cy="169743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09600" y="609600"/>
            <a:ext cx="8083296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Results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876300" y="1612902"/>
            <a:ext cx="3380994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Score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876300" y="1877913"/>
            <a:ext cx="338099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0.9904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76300" y="2456955"/>
            <a:ext cx="3380994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99.04% variance explained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991100" y="1612902"/>
            <a:ext cx="3380994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4991100" y="1877913"/>
            <a:ext cx="338099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 ₹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4991100" y="2456955"/>
            <a:ext cx="3380994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0.85% average error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76300" y="3767535"/>
            <a:ext cx="3380994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876300" y="4032549"/>
            <a:ext cx="338099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 ₹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876300" y="4611588"/>
            <a:ext cx="3380994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prediction accuracy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991100" y="3767535"/>
            <a:ext cx="3380994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4991100" y="4032549"/>
            <a:ext cx="338099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0.9899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4991100" y="4611588"/>
            <a:ext cx="3380994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generalization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384302"/>
            <a:ext cx="2540000" cy="1642666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302000" y="1384302"/>
            <a:ext cx="2540000" cy="1642666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994400" y="1384302"/>
            <a:ext cx="2540000" cy="1642666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9600" y="609600"/>
            <a:ext cx="8083296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Comparison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876300" y="1612902"/>
            <a:ext cx="2085594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76300" y="1908474"/>
            <a:ext cx="2085594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0.9904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76300" y="2426596"/>
            <a:ext cx="2085594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SELECTED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3568700" y="1612902"/>
            <a:ext cx="2085594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(α=0.1)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3568700" y="1908474"/>
            <a:ext cx="2085594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0.9882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568700" y="2426596"/>
            <a:ext cx="2085594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−0.22% accuracy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6261100" y="1612902"/>
            <a:ext cx="2085594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Lasso (α=0.001)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6261100" y="1908474"/>
            <a:ext cx="2085594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0.9879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261100" y="2426596"/>
            <a:ext cx="2085594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−0.25% accuracy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609600" y="4137720"/>
            <a:ext cx="8083296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Linear Regression selected for superior performance, simplicity, and no evidence of overfitting.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231902"/>
            <a:ext cx="7924800" cy="136227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3051377"/>
            <a:ext cx="3810000" cy="184785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724400" y="3051377"/>
            <a:ext cx="3810000" cy="184785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9600" y="609600"/>
            <a:ext cx="8083296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 Analysis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876300" y="1460502"/>
            <a:ext cx="7578090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Feature Driver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76300" y="1725513"/>
            <a:ext cx="757809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4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Price: 95.7%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76300" y="3279977"/>
            <a:ext cx="33809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Predictors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81100" y="3699077"/>
            <a:ext cx="30099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High: 95.7%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Open: 2.1%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Low: 2.2%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991100" y="3279977"/>
            <a:ext cx="33809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Insight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991100" y="3699077"/>
            <a:ext cx="3314700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high price is the dominant predictor of closing price, reflecting market sentiment and price ceiling behavior.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384302"/>
            <a:ext cx="3848100" cy="131306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86300" y="1384302"/>
            <a:ext cx="3848100" cy="131306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3078361"/>
            <a:ext cx="3848100" cy="131306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686300" y="3078361"/>
            <a:ext cx="3848100" cy="131306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09600" y="609600"/>
            <a:ext cx="8083296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 &amp; Use Cases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876300" y="1612902"/>
            <a:ext cx="341985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5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Strategy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76300" y="1981200"/>
            <a:ext cx="33528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automated trading signals with 94.6% prediction accuracy for profitable execution.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53000" y="1612902"/>
            <a:ext cx="341985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5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Management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953000" y="1981200"/>
            <a:ext cx="33528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±0.89 rupee confidence intervals for position sizing and VaR calculations.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76300" y="3306961"/>
            <a:ext cx="341985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5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Optimization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76300" y="3675264"/>
            <a:ext cx="33528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Incorporate price forecasts into asset allocation and portfolio rebalancing decisions.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53000" y="3306961"/>
            <a:ext cx="341985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5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Monitoring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953000" y="3675264"/>
            <a:ext cx="33528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model performance tracking with automatic alerts for prediction anomalies.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384302"/>
            <a:ext cx="7924800" cy="239236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609600"/>
            <a:ext cx="8083296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Readiness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257300" y="1689102"/>
            <a:ext cx="6972300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188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Production-Ready:</a:t>
            </a:r>
            <a:r>
              <a:rPr lang="en-US" sz="132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Code meets enterprise standards with error handling and logging</a:t>
            </a:r>
            <a:endParaRPr lang="en-US" sz="1320" dirty="0"/>
          </a:p>
          <a:p>
            <a:pPr marL="342900" indent="-342900">
              <a:lnSpc>
                <a:spcPts val="1188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Scalable Architecture:</a:t>
            </a:r>
            <a:r>
              <a:rPr lang="en-US" sz="132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Designed for real-time prediction pipeline</a:t>
            </a:r>
            <a:endParaRPr lang="en-US" sz="1320" dirty="0"/>
          </a:p>
          <a:p>
            <a:pPr marL="342900" indent="-342900">
              <a:lnSpc>
                <a:spcPts val="1188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Automated Retraining:</a:t>
            </a:r>
            <a:r>
              <a:rPr lang="en-US" sz="132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Weekly/monthly model refresh for accuracy maintenance</a:t>
            </a:r>
            <a:endParaRPr lang="en-US" sz="1320" dirty="0"/>
          </a:p>
          <a:p>
            <a:pPr marL="342900" indent="-342900">
              <a:lnSpc>
                <a:spcPts val="1188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Monitoring System:</a:t>
            </a:r>
            <a:r>
              <a:rPr lang="en-US" sz="132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Performance tracking with alert thresholds (RMSE &gt; 1.5)</a:t>
            </a:r>
            <a:endParaRPr lang="en-US" sz="1320" dirty="0"/>
          </a:p>
          <a:p>
            <a:pPr marL="342900" indent="-342900">
              <a:lnSpc>
                <a:spcPts val="1188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Documentation:</a:t>
            </a:r>
            <a:r>
              <a:rPr lang="en-US" sz="132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Comprehensive user guides and deployment instructions</a:t>
            </a:r>
            <a:endParaRPr lang="en-US" sz="13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384302"/>
            <a:ext cx="3810000" cy="184785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724400" y="1384302"/>
            <a:ext cx="3810000" cy="184785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609600"/>
            <a:ext cx="8083296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Recommendations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76300" y="1612902"/>
            <a:ext cx="33809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Traders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81100" y="2032002"/>
            <a:ext cx="30099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1-month forecasts for entry/exit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with fundamental analysis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stop-loss at ±1.5₹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991100" y="1612902"/>
            <a:ext cx="33809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Risk Managers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295900" y="2032002"/>
            <a:ext cx="30099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confidence intervals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model drift monthly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test predictions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9600" y="4137720"/>
            <a:ext cx="8083296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Deploy model in testing environment, validate with live data, implement automated alerts.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384302"/>
            <a:ext cx="7924800" cy="223361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609600"/>
            <a:ext cx="8083296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Key Takeaways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257300" y="1689102"/>
            <a:ext cx="6972300" cy="1471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188"/>
              </a:lnSpc>
              <a:buSzPct val="100000"/>
              <a:buChar char="•"/>
            </a:pPr>
            <a:r>
              <a:rPr lang="en-US" sz="13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Exceptional Predictability:</a:t>
            </a:r>
            <a:r>
              <a:rPr lang="en-US" sz="132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99.04% model accuracy demonstrates clear market patterns</a:t>
            </a:r>
            <a:endParaRPr lang="en-US" sz="1320" dirty="0"/>
          </a:p>
          <a:p>
            <a:pPr marL="342900" indent="-342900">
              <a:lnSpc>
                <a:spcPts val="1188"/>
              </a:lnSpc>
              <a:buSzPct val="100000"/>
              <a:buChar char="•"/>
            </a:pPr>
            <a:r>
              <a:rPr lang="en-US" sz="13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Solution:</a:t>
            </a:r>
            <a:r>
              <a:rPr lang="en-US" sz="132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Fully implemented, tested, and deployment-validated</a:t>
            </a:r>
            <a:endParaRPr lang="en-US" sz="1320" dirty="0"/>
          </a:p>
          <a:p>
            <a:pPr marL="342900" indent="-342900">
              <a:lnSpc>
                <a:spcPts val="1188"/>
              </a:lnSpc>
              <a:buSzPct val="100000"/>
              <a:buChar char="•"/>
            </a:pPr>
            <a:r>
              <a:rPr lang="en-US" sz="13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Value:</a:t>
            </a:r>
            <a:r>
              <a:rPr lang="en-US" sz="132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Enables profitable trading strategies and risk management</a:t>
            </a:r>
            <a:endParaRPr lang="en-US" sz="1320" dirty="0"/>
          </a:p>
          <a:p>
            <a:pPr marL="342900" indent="-342900">
              <a:lnSpc>
                <a:spcPts val="1188"/>
              </a:lnSpc>
              <a:buSzPct val="100000"/>
              <a:buChar char="•"/>
            </a:pPr>
            <a:r>
              <a:rPr lang="en-US" sz="13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Excellence:</a:t>
            </a:r>
            <a:r>
              <a:rPr lang="en-US" sz="132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Professional code quality, reproducible, well-documented</a:t>
            </a:r>
            <a:endParaRPr lang="en-US" sz="1320" dirty="0"/>
          </a:p>
          <a:p>
            <a:pPr marL="342900" indent="-342900">
              <a:lnSpc>
                <a:spcPts val="1188"/>
              </a:lnSpc>
              <a:buSzPct val="100000"/>
              <a:buChar char="•"/>
            </a:pPr>
            <a:r>
              <a:rPr lang="en-US" sz="13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Implementation:</a:t>
            </a:r>
            <a:r>
              <a:rPr lang="en-US" sz="132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Deploy and monitor in real-time trading environment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530352" y="3922714"/>
            <a:ext cx="80832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Project Complete &amp; Ready for Submission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633</Words>
  <Application>Microsoft Office PowerPoint</Application>
  <PresentationFormat>On-screen Show (16:9)</PresentationFormat>
  <Paragraphs>121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dhanunjay suda</cp:lastModifiedBy>
  <cp:revision>3</cp:revision>
  <dcterms:created xsi:type="dcterms:W3CDTF">2026-02-13T10:19:01Z</dcterms:created>
  <dcterms:modified xsi:type="dcterms:W3CDTF">2026-02-13T10:31:15Z</dcterms:modified>
</cp:coreProperties>
</file>